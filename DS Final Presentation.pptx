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  <p:sldId id="261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935B2-4C57-7BD8-E4DB-5D14B3D37444}" v="1622" dt="2026-05-04T20:00:33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9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456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021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510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75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172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68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003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048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457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969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88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620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B0FF-06CB-F674-27FE-C807FA81A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Air fryer Market Demand Estimation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575CB-F871-07E6-54B0-E9F0CFD78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By: Calvin pan, </a:t>
            </a:r>
            <a:r>
              <a:rPr lang="en-US" dirty="0" err="1"/>
              <a:t>zilan</a:t>
            </a:r>
            <a:r>
              <a:rPr lang="en-US" dirty="0"/>
              <a:t> </a:t>
            </a:r>
            <a:r>
              <a:rPr lang="en-US" dirty="0" err="1"/>
              <a:t>saadi</a:t>
            </a:r>
            <a:r>
              <a:rPr lang="en-US" dirty="0"/>
              <a:t>, eric </a:t>
            </a:r>
            <a:r>
              <a:rPr lang="en-US" dirty="0" err="1"/>
              <a:t>lin</a:t>
            </a:r>
            <a:r>
              <a:rPr lang="en-US" dirty="0"/>
              <a:t>, </a:t>
            </a:r>
            <a:r>
              <a:rPr lang="en-US" dirty="0" err="1"/>
              <a:t>kayleen</a:t>
            </a:r>
            <a:r>
              <a:rPr lang="en-US" dirty="0"/>
              <a:t> do &amp; mercy </a:t>
            </a:r>
            <a:r>
              <a:rPr lang="en-US" dirty="0" err="1"/>
              <a:t>soly</a:t>
            </a:r>
          </a:p>
        </p:txBody>
      </p:sp>
    </p:spTree>
    <p:extLst>
      <p:ext uri="{BB962C8B-B14F-4D97-AF65-F5344CB8AC3E}">
        <p14:creationId xmlns:p14="http://schemas.microsoft.com/office/powerpoint/2010/main" val="4227238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BD34-8A88-92AB-FCAB-D4A3A1774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/>
              <a:t>Air-Fryer Market Overview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AA54E3-6E3B-364B-DBA4-155CD051E2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8"/>
          <a:stretch>
            <a:fillRect/>
          </a:stretch>
        </p:blipFill>
        <p:spPr bwMode="auto">
          <a:xfrm>
            <a:off x="609747" y="3796678"/>
            <a:ext cx="3609314" cy="268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600B770-7C60-01B9-E9BA-02E36AE530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9"/>
          <a:stretch>
            <a:fillRect/>
          </a:stretch>
        </p:blipFill>
        <p:spPr bwMode="auto">
          <a:xfrm>
            <a:off x="4307089" y="3826653"/>
            <a:ext cx="3577821" cy="268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E18961C-6215-2A45-33E0-FBB407A18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29"/>
          <a:stretch>
            <a:fillRect/>
          </a:stretch>
        </p:blipFill>
        <p:spPr bwMode="auto">
          <a:xfrm>
            <a:off x="8060966" y="3783407"/>
            <a:ext cx="3683838" cy="2709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mmaryLeft">
            <a:extLst>
              <a:ext uri="{FF2B5EF4-FFF2-40B4-BE49-F238E27FC236}">
                <a16:creationId xmlns:a16="http://schemas.microsoft.com/office/drawing/2014/main" id="{ED032D28-AC96-F84F-876A-E77D3AC3EDEC}"/>
              </a:ext>
            </a:extLst>
          </p:cNvPr>
          <p:cNvSpPr txBox="1"/>
          <p:nvPr/>
        </p:nvSpPr>
        <p:spPr>
          <a:xfrm>
            <a:off x="838200" y="1841500"/>
            <a:ext cx="5207000" cy="1002839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marL="228600" indent="-228600">
              <a:lnSpc>
                <a:spcPts val="2200"/>
              </a:lnSpc>
              <a:spcAft>
                <a:spcPts val="500"/>
              </a:spcAft>
              <a:buFont typeface="Arial"/>
              <a:buChar char="•"/>
            </a:pPr>
            <a:r>
              <a:rPr lang="en-US" sz="2000" b="1">
                <a:latin typeface="Walbaum Text"/>
              </a:rPr>
              <a:t>Price range:</a:t>
            </a:r>
            <a:r>
              <a:rPr lang="en-US" sz="2000">
                <a:latin typeface="Walbaum Text"/>
              </a:rPr>
              <a:t> $55–$230 across 10 brands</a:t>
            </a:r>
          </a:p>
          <a:p>
            <a:pPr marL="228600" indent="-228600">
              <a:lnSpc>
                <a:spcPts val="2200"/>
              </a:lnSpc>
              <a:spcAft>
                <a:spcPts val="500"/>
              </a:spcAft>
              <a:buFont typeface="Arial"/>
              <a:buChar char="•"/>
            </a:pPr>
            <a:r>
              <a:rPr lang="en-US" sz="2000" b="1">
                <a:latin typeface="Walbaum Text"/>
              </a:rPr>
              <a:t>Stable, competitive</a:t>
            </a:r>
            <a:r>
              <a:rPr lang="en-US" sz="2000">
                <a:latin typeface="Walbaum Text"/>
              </a:rPr>
              <a:t> market segmented by price</a:t>
            </a:r>
          </a:p>
        </p:txBody>
      </p:sp>
      <p:sp>
        <p:nvSpPr>
          <p:cNvPr id="4" name="SummaryRight">
            <a:extLst>
              <a:ext uri="{FF2B5EF4-FFF2-40B4-BE49-F238E27FC236}">
                <a16:creationId xmlns:a16="http://schemas.microsoft.com/office/drawing/2014/main" id="{6CF8A9A8-5EA8-C342-8EBB-FF0D8023592F}"/>
              </a:ext>
            </a:extLst>
          </p:cNvPr>
          <p:cNvSpPr txBox="1"/>
          <p:nvPr/>
        </p:nvSpPr>
        <p:spPr>
          <a:xfrm>
            <a:off x="6146800" y="1841500"/>
            <a:ext cx="5207000" cy="1002839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marL="228600" indent="-228600">
              <a:lnSpc>
                <a:spcPts val="2200"/>
              </a:lnSpc>
              <a:spcAft>
                <a:spcPts val="500"/>
              </a:spcAft>
              <a:buFont typeface="Arial"/>
              <a:buChar char="•"/>
            </a:pPr>
            <a:r>
              <a:rPr lang="en-US" sz="2000" b="1" dirty="0">
                <a:latin typeface="Walbaum Text"/>
              </a:rPr>
              <a:t>Premium:</a:t>
            </a:r>
            <a:r>
              <a:rPr lang="en-US" sz="2000" dirty="0">
                <a:latin typeface="Walbaum Text"/>
              </a:rPr>
              <a:t> Cuisinart     </a:t>
            </a:r>
            <a:r>
              <a:rPr lang="en-US" sz="2000" b="1" dirty="0">
                <a:latin typeface="Walbaum Text"/>
              </a:rPr>
              <a:t>Budget:</a:t>
            </a:r>
            <a:r>
              <a:rPr lang="en-US" sz="2000" dirty="0">
                <a:latin typeface="Walbaum Text"/>
              </a:rPr>
              <a:t> Dash, </a:t>
            </a:r>
            <a:r>
              <a:rPr lang="en-US" sz="2000" dirty="0" err="1">
                <a:latin typeface="Walbaum Text"/>
              </a:rPr>
              <a:t>Gowise</a:t>
            </a:r>
            <a:endParaRPr lang="en-US" sz="2000">
              <a:latin typeface="Walbaum Text"/>
            </a:endParaRPr>
          </a:p>
          <a:p>
            <a:pPr marL="228600" indent="-228600">
              <a:lnSpc>
                <a:spcPts val="2200"/>
              </a:lnSpc>
              <a:spcAft>
                <a:spcPts val="500"/>
              </a:spcAft>
              <a:buFont typeface="Arial"/>
              <a:buChar char="•"/>
            </a:pPr>
            <a:r>
              <a:rPr lang="en-US" sz="2000" b="1" dirty="0">
                <a:latin typeface="Walbaum Text"/>
              </a:rPr>
              <a:t>Instant Pot</a:t>
            </a:r>
            <a:r>
              <a:rPr lang="en-US" sz="2000" dirty="0">
                <a:latin typeface="Walbaum Text"/>
              </a:rPr>
              <a:t> rises to dominance; </a:t>
            </a:r>
            <a:r>
              <a:rPr lang="en-US" sz="2000" b="1" dirty="0" err="1">
                <a:latin typeface="Walbaum Text"/>
              </a:rPr>
              <a:t>Gowise</a:t>
            </a:r>
            <a:r>
              <a:rPr lang="en-US" sz="2000" dirty="0">
                <a:latin typeface="Walbaum Text"/>
              </a:rPr>
              <a:t> declines</a:t>
            </a:r>
          </a:p>
        </p:txBody>
      </p:sp>
      <p:sp>
        <p:nvSpPr>
          <p:cNvPr id="2001" name="ChartTitle1"/>
          <p:cNvSpPr txBox="1"/>
          <p:nvPr/>
        </p:nvSpPr>
        <p:spPr>
          <a:xfrm>
            <a:off x="1053355" y="3279020"/>
            <a:ext cx="30418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>
                <a:latin typeface="Walbaum Text"/>
              </a:rPr>
              <a:t>Average Price Over Time</a:t>
            </a:r>
          </a:p>
        </p:txBody>
      </p:sp>
      <p:sp>
        <p:nvSpPr>
          <p:cNvPr id="2002" name="ChartTitle2"/>
          <p:cNvSpPr txBox="1"/>
          <p:nvPr/>
        </p:nvSpPr>
        <p:spPr>
          <a:xfrm>
            <a:off x="4300187" y="3283604"/>
            <a:ext cx="396543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dirty="0">
                <a:solidFill>
                  <a:srgbClr val="404040"/>
                </a:solidFill>
                <a:latin typeface="Walbaum Text"/>
              </a:rPr>
              <a:t>Average Rating </a:t>
            </a:r>
            <a:r>
              <a:rPr lang="en-US" dirty="0" err="1">
                <a:solidFill>
                  <a:srgbClr val="404040"/>
                </a:solidFill>
                <a:latin typeface="Walbaum Text"/>
              </a:rPr>
              <a:t>Over </a:t>
            </a:r>
            <a:r>
              <a:rPr lang="en-US" dirty="0">
                <a:solidFill>
                  <a:srgbClr val="404040"/>
                </a:solidFill>
                <a:latin typeface="Walbaum Text"/>
              </a:rPr>
              <a:t>Time</a:t>
            </a:r>
          </a:p>
        </p:txBody>
      </p:sp>
      <p:sp>
        <p:nvSpPr>
          <p:cNvPr id="2003" name="ChartTitle3"/>
          <p:cNvSpPr txBox="1"/>
          <p:nvPr/>
        </p:nvSpPr>
        <p:spPr>
          <a:xfrm>
            <a:off x="8350258" y="3290500"/>
            <a:ext cx="310525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>
                <a:solidFill>
                  <a:srgbClr val="404040"/>
                </a:solidFill>
                <a:latin typeface="Walbaum Text"/>
              </a:rPr>
              <a:t>Market Share Over Time</a:t>
            </a:r>
          </a:p>
        </p:txBody>
      </p:sp>
    </p:spTree>
    <p:extLst>
      <p:ext uri="{BB962C8B-B14F-4D97-AF65-F5344CB8AC3E}">
        <p14:creationId xmlns:p14="http://schemas.microsoft.com/office/powerpoint/2010/main" val="405163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1162-4410-69E1-D085-1513A9CF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/>
              <a:t>Demand Model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DA26A-7298-414A-A2EE-70141922D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8800"/>
            <a:ext cx="10289583" cy="2794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b="1"/>
              <a:t>Specification</a:t>
            </a:r>
          </a:p>
          <a:p>
            <a:pPr>
              <a:buNone/>
            </a:pPr>
            <a:r>
              <a:rPr lang="en-US" sz="1600" dirty="0">
                <a:solidFill>
                  <a:srgbClr val="35403A"/>
                </a:solidFill>
              </a:rPr>
              <a:t>	</a:t>
            </a:r>
            <a:r>
              <a:rPr lang="en-US" sz="1600">
                <a:solidFill>
                  <a:srgbClr val="35403A"/>
                </a:solidFill>
                <a:latin typeface="Walbaum Text"/>
              </a:rPr>
              <a:t>We estimate a logit-style demand model by running OLS on log brand market share. Taking logs linearizes the multinomial discrete choice problem and lets us recover interpretable demand parameters.</a:t>
            </a:r>
          </a:p>
          <a:p>
            <a:pPr>
              <a:buNone/>
            </a:pPr>
            <a:endParaRPr lang="en-US" sz="9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70D106-CC68-4439-CCC4-C7D86365C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266" y="3224956"/>
            <a:ext cx="6268333" cy="823139"/>
          </a:xfrm>
          <a:prstGeom prst="rect">
            <a:avLst/>
          </a:prstGeom>
        </p:spPr>
      </p:pic>
      <p:sp>
        <p:nvSpPr>
          <p:cNvPr id="100" name="Legend"/>
          <p:cNvSpPr txBox="1"/>
          <p:nvPr/>
        </p:nvSpPr>
        <p:spPr>
          <a:xfrm>
            <a:off x="3299637" y="4059641"/>
            <a:ext cx="6506490" cy="243323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buNone/>
            </a:pPr>
            <a:r>
              <a:rPr lang="en-US" sz="2000" b="1" dirty="0">
                <a:latin typeface="Walbaum Text"/>
              </a:rPr>
              <a:t>Where</a:t>
            </a:r>
            <a:endParaRPr lang="en-US" sz="2000" b="1">
              <a:latin typeface="Walbaum Text"/>
            </a:endParaRPr>
          </a:p>
          <a:p>
            <a:pPr marL="171450" indent="-171450">
              <a:buFont typeface="Arial"/>
              <a:buChar char="•"/>
            </a:pPr>
            <a:r>
              <a:rPr lang="en-US" sz="1600" b="1" i="1">
                <a:latin typeface="Walbaum Text"/>
              </a:rPr>
              <a:t>b</a:t>
            </a:r>
            <a:r>
              <a:rPr lang="en-US" sz="1600">
                <a:latin typeface="Walbaum Text"/>
              </a:rPr>
              <a:t> indexes brands; </a:t>
            </a:r>
            <a:r>
              <a:rPr lang="en-US" sz="1600" b="1" i="1">
                <a:latin typeface="Walbaum Text"/>
              </a:rPr>
              <a:t>t</a:t>
            </a:r>
            <a:r>
              <a:rPr lang="en-US" sz="1600">
                <a:latin typeface="Walbaum Text"/>
              </a:rPr>
              <a:t> indexes years</a:t>
            </a:r>
            <a:endParaRPr lang="en-US" sz="1600" dirty="0">
              <a:latin typeface="Walbaum Text"/>
            </a:endParaRPr>
          </a:p>
          <a:p>
            <a:pPr marL="171450" indent="-171450">
              <a:buFont typeface="Arial"/>
              <a:buChar char="•"/>
            </a:pPr>
            <a:r>
              <a:rPr lang="en-US" sz="1600" b="1" i="1" dirty="0" err="1">
                <a:latin typeface="Walbaum Text"/>
              </a:rPr>
              <a:t>s</a:t>
            </a:r>
            <a:r>
              <a:rPr lang="en-US" sz="1600" b="1" i="1" baseline="-25000" dirty="0" err="1">
                <a:latin typeface="Walbaum Text"/>
              </a:rPr>
              <a:t>bt</a:t>
            </a:r>
            <a:r>
              <a:rPr lang="en-US" sz="1600" dirty="0">
                <a:latin typeface="Walbaum Text"/>
              </a:rPr>
              <a:t> = brand market share</a:t>
            </a:r>
          </a:p>
          <a:p>
            <a:pPr marL="171450" indent="-171450">
              <a:buFont typeface="Arial"/>
              <a:buChar char="•"/>
            </a:pPr>
            <a:r>
              <a:rPr lang="en-US" sz="1600" b="1" i="1" dirty="0" err="1">
                <a:latin typeface="Walbaum Text"/>
              </a:rPr>
              <a:t>p</a:t>
            </a:r>
            <a:r>
              <a:rPr lang="en-US" sz="1600" b="1" i="1" baseline="-25000" dirty="0" err="1">
                <a:latin typeface="Walbaum Text"/>
              </a:rPr>
              <a:t>bt</a:t>
            </a:r>
            <a:r>
              <a:rPr lang="en-US" sz="1600" dirty="0">
                <a:latin typeface="Walbaum Text"/>
              </a:rPr>
              <a:t> = average price</a:t>
            </a:r>
          </a:p>
          <a:p>
            <a:pPr marL="171450" indent="-171450">
              <a:buFont typeface="Arial"/>
              <a:buChar char="•"/>
            </a:pPr>
            <a:r>
              <a:rPr lang="en-US" sz="1600" b="1" i="1" dirty="0" err="1">
                <a:latin typeface="Walbaum Text"/>
              </a:rPr>
              <a:t>r</a:t>
            </a:r>
            <a:r>
              <a:rPr lang="en-US" sz="1600" b="1" i="1" baseline="-25000" dirty="0" err="1">
                <a:latin typeface="Walbaum Text"/>
              </a:rPr>
              <a:t>bt</a:t>
            </a:r>
            <a:r>
              <a:rPr lang="en-US" sz="1600" dirty="0">
                <a:latin typeface="Walbaum Text"/>
              </a:rPr>
              <a:t> = average rating</a:t>
            </a:r>
          </a:p>
          <a:p>
            <a:pPr marL="171450" indent="-171450">
              <a:buFont typeface="Arial"/>
              <a:buChar char="•"/>
            </a:pPr>
            <a:r>
              <a:rPr lang="en-US" sz="1600" b="1" i="1" dirty="0" err="1">
                <a:latin typeface="Walbaum Text"/>
              </a:rPr>
              <a:t>x</a:t>
            </a:r>
            <a:r>
              <a:rPr lang="en-US" sz="1600" b="1" i="1" baseline="-25000" dirty="0" err="1">
                <a:latin typeface="Walbaum Text"/>
              </a:rPr>
              <a:t>bt</a:t>
            </a:r>
            <a:r>
              <a:rPr lang="en-US" sz="1600" b="1" i="1" baseline="30000" dirty="0">
                <a:latin typeface="Walbaum Text"/>
              </a:rPr>
              <a:t>ℓ</a:t>
            </a:r>
            <a:r>
              <a:rPr lang="en-US" sz="1600" dirty="0">
                <a:latin typeface="Walbaum Text"/>
              </a:rPr>
              <a:t> = product characteristics</a:t>
            </a:r>
          </a:p>
          <a:p>
            <a:pPr marL="171450" indent="-171450">
              <a:buFont typeface="Arial"/>
              <a:buChar char="•"/>
            </a:pPr>
            <a:r>
              <a:rPr lang="en-US" sz="1600" b="1" i="1" dirty="0">
                <a:latin typeface="Walbaum Text"/>
              </a:rPr>
              <a:t>α</a:t>
            </a:r>
            <a:r>
              <a:rPr lang="en-US" sz="1600" b="1" i="1" baseline="-25000" dirty="0">
                <a:latin typeface="Walbaum Text"/>
              </a:rPr>
              <a:t>t</a:t>
            </a:r>
            <a:r>
              <a:rPr lang="en-US" sz="1600" dirty="0">
                <a:latin typeface="Walbaum Text"/>
              </a:rPr>
              <a:t> = year fixed effects; </a:t>
            </a:r>
            <a:r>
              <a:rPr lang="en-US" sz="1600" b="1" i="1" dirty="0" err="1">
                <a:latin typeface="Walbaum Text"/>
              </a:rPr>
              <a:t>γ</a:t>
            </a:r>
            <a:r>
              <a:rPr lang="en-US" sz="1600" b="1" i="1" baseline="-25000" dirty="0" err="1">
                <a:latin typeface="Walbaum Text"/>
              </a:rPr>
              <a:t>b</a:t>
            </a:r>
            <a:r>
              <a:rPr lang="en-US" sz="1600" dirty="0">
                <a:latin typeface="Walbaum Text"/>
              </a:rPr>
              <a:t> = brand FE</a:t>
            </a:r>
          </a:p>
          <a:p>
            <a:pPr marL="171450" indent="-171450">
              <a:buFont typeface="Arial"/>
              <a:buChar char="•"/>
            </a:pPr>
            <a:r>
              <a:rPr lang="en-US" sz="1600" b="1" i="1">
                <a:latin typeface="Walbaum Text"/>
              </a:rPr>
              <a:t>β</a:t>
            </a:r>
            <a:r>
              <a:rPr lang="en-US" sz="1600" b="1" i="1" baseline="-25000">
                <a:latin typeface="Walbaum Text"/>
              </a:rPr>
              <a:t>price</a:t>
            </a:r>
            <a:r>
              <a:rPr lang="en-US" sz="1600">
                <a:latin typeface="Walbaum Text"/>
              </a:rPr>
              <a:t> = single price coefficient, shared across all brands and years</a:t>
            </a:r>
            <a:endParaRPr lang="en-US" sz="1600" dirty="0">
              <a:latin typeface="Walbaum Text"/>
            </a:endParaRPr>
          </a:p>
        </p:txBody>
      </p:sp>
    </p:spTree>
    <p:extLst>
      <p:ext uri="{BB962C8B-B14F-4D97-AF65-F5344CB8AC3E}">
        <p14:creationId xmlns:p14="http://schemas.microsoft.com/office/powerpoint/2010/main" val="3395866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B03D1-E2A8-97D5-21C7-83C04754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</a:t>
            </a:r>
            <a:r>
              <a:rPr lang="en-US"/>
              <a:t>Price Coefficient &amp; Sign Importance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F04B9-FD57-15FD-DEA4-151EA364A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000" b="1">
                <a:latin typeface="Walbaum Text"/>
                <a:ea typeface="Microsoft Sans Serif"/>
                <a:cs typeface="Microsoft Sans Serif"/>
              </a:rPr>
              <a:t>𝛽^𝑝𝑟𝑖𝑐𝑒 = -0.0384</a:t>
            </a:r>
            <a:endParaRPr lang="en-US" sz="3000">
              <a:latin typeface="Walbaum Text"/>
            </a:endParaRPr>
          </a:p>
          <a:p>
            <a:r>
              <a:rPr lang="en-US" sz="2400">
                <a:latin typeface="Walbaum Text"/>
                <a:cs typeface="Arial"/>
              </a:rPr>
              <a:t>The negative sign matters because it means that there is an inverse </a:t>
            </a:r>
            <a:r>
              <a:rPr lang="en-US" sz="2400" dirty="0">
                <a:latin typeface="Walbaum Text"/>
                <a:cs typeface="Arial"/>
              </a:rPr>
              <a:t>relationship between price and product share. </a:t>
            </a:r>
          </a:p>
          <a:p>
            <a:r>
              <a:rPr lang="en-US" sz="2400" b="1" dirty="0">
                <a:latin typeface="Walbaum Text"/>
                <a:cs typeface="Arial"/>
              </a:rPr>
              <a:t>The Law of </a:t>
            </a:r>
            <a:r>
              <a:rPr lang="en-US" sz="2400" b="1">
                <a:latin typeface="Walbaum Text"/>
                <a:cs typeface="Arial"/>
              </a:rPr>
              <a:t>Demand</a:t>
            </a:r>
            <a:r>
              <a:rPr lang="en-US" sz="2400">
                <a:latin typeface="Walbaum Text"/>
                <a:cs typeface="Arial"/>
              </a:rPr>
              <a:t>: As price increases, product share decreases.</a:t>
            </a:r>
          </a:p>
        </p:txBody>
      </p:sp>
    </p:spTree>
    <p:extLst>
      <p:ext uri="{BB962C8B-B14F-4D97-AF65-F5344CB8AC3E}">
        <p14:creationId xmlns:p14="http://schemas.microsoft.com/office/powerpoint/2010/main" val="270267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C8AB3-7391-8DEA-E7EC-0227420D0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Product Features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C8A19E-9F31-30AE-382E-3C0C5424A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84" y="2125056"/>
            <a:ext cx="4530898" cy="3639450"/>
          </a:xfrm>
        </p:spPr>
        <p:txBody>
          <a:bodyPr anchor="ctr">
            <a:normAutofit fontScale="85000" lnSpcReduction="10000"/>
          </a:bodyPr>
          <a:lstStyle/>
          <a:p>
            <a:r>
              <a:rPr lang="en-US" sz="2000">
                <a:latin typeface="Walbaum Text"/>
              </a:rPr>
              <a:t>The features of being compact, having a dual basket, and having a transparent window are associated with </a:t>
            </a:r>
            <a:r>
              <a:rPr lang="en-US" sz="2000" b="1">
                <a:latin typeface="Walbaum Text"/>
              </a:rPr>
              <a:t>higher demand.</a:t>
            </a:r>
            <a:endParaRPr lang="en-US" sz="2000" b="1" dirty="0">
              <a:latin typeface="Walbaum Text"/>
            </a:endParaRPr>
          </a:p>
          <a:p>
            <a:r>
              <a:rPr lang="en-US" sz="2000" dirty="0">
                <a:latin typeface="Walbaum Text"/>
              </a:rPr>
              <a:t>The most common feature is compact design with an average </a:t>
            </a:r>
            <a:r>
              <a:rPr lang="en-US" sz="2000">
                <a:latin typeface="Walbaum Text"/>
              </a:rPr>
              <a:t>share of about 98%. Additionally, </a:t>
            </a:r>
            <a:r>
              <a:rPr lang="en-US" sz="2000" dirty="0">
                <a:latin typeface="Walbaum Text"/>
              </a:rPr>
              <a:t>oven-styled models are also common </a:t>
            </a:r>
            <a:r>
              <a:rPr lang="en-US" sz="2000">
                <a:latin typeface="Walbaum Text"/>
              </a:rPr>
              <a:t>with a share of about 56%. </a:t>
            </a:r>
            <a:endParaRPr lang="en-US" sz="2000" dirty="0">
              <a:latin typeface="Walbaum Text"/>
            </a:endParaRPr>
          </a:p>
          <a:p>
            <a:r>
              <a:rPr lang="en-US" sz="2000" b="1" dirty="0">
                <a:latin typeface="Walbaum Text"/>
              </a:rPr>
              <a:t>Rare Features</a:t>
            </a:r>
            <a:r>
              <a:rPr lang="en-US" sz="2000" dirty="0">
                <a:latin typeface="Walbaum Text"/>
              </a:rPr>
              <a:t>: Rotisserie and Window; where Rotisserie appears in </a:t>
            </a:r>
            <a:r>
              <a:rPr lang="en-US" sz="2000">
                <a:latin typeface="Walbaum Text"/>
              </a:rPr>
              <a:t>only about 7% and a Window</a:t>
            </a:r>
            <a:r>
              <a:rPr lang="en-US" sz="2000" dirty="0">
                <a:latin typeface="Walbaum Text"/>
              </a:rPr>
              <a:t> is less </a:t>
            </a:r>
            <a:r>
              <a:rPr lang="en-US" sz="2000">
                <a:latin typeface="Walbaum Text"/>
              </a:rPr>
              <a:t>than 4% of air fryer models/brands.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2EAA23-8553-8D33-06B3-907719439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493715"/>
            <a:ext cx="5150277" cy="3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507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D7A7E-57B1-B87C-4725-4875F798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Estimated Unit Costs</a:t>
            </a:r>
            <a:endParaRPr lang="en-US" dirty="0"/>
          </a:p>
        </p:txBody>
      </p:sp>
      <p:pic>
        <p:nvPicPr>
          <p:cNvPr id="4" name="Content Placeholder 3" descr="A diagram of a distribution of unit costs&#10;&#10;AI-generated content may be incorrect.">
            <a:extLst>
              <a:ext uri="{FF2B5EF4-FFF2-40B4-BE49-F238E27FC236}">
                <a16:creationId xmlns:a16="http://schemas.microsoft.com/office/drawing/2014/main" id="{A3896CEA-CD4F-795C-10E5-A0E4909CA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2141" y="3465753"/>
            <a:ext cx="4385164" cy="2969134"/>
          </a:xfrm>
          <a:prstGeom prst="rect">
            <a:avLst/>
          </a:prstGeom>
        </p:spPr>
      </p:pic>
      <p:pic>
        <p:nvPicPr>
          <p:cNvPr id="5" name="Picture 4" descr="A graph of colored lines&#10;&#10;AI-generated content may be incorrect.">
            <a:extLst>
              <a:ext uri="{FF2B5EF4-FFF2-40B4-BE49-F238E27FC236}">
                <a16:creationId xmlns:a16="http://schemas.microsoft.com/office/drawing/2014/main" id="{52F0FD93-8206-2EDE-3A42-7288FA049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509" y="365904"/>
            <a:ext cx="4410075" cy="2819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2B7904-0BF5-AC0C-1579-6F6E3CF6D466}"/>
              </a:ext>
            </a:extLst>
          </p:cNvPr>
          <p:cNvSpPr txBox="1"/>
          <p:nvPr/>
        </p:nvSpPr>
        <p:spPr>
          <a:xfrm>
            <a:off x="479460" y="1900719"/>
            <a:ext cx="6284359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latin typeface="Walbaum Text"/>
              </a:rPr>
              <a:t>Most unit costs are around $50-$100</a:t>
            </a:r>
            <a:endParaRPr lang="en-US" sz="2400" dirty="0">
              <a:latin typeface="Walbaum Tex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Walbaum Text"/>
              </a:rPr>
              <a:t>The distribution is right skewed, with some </a:t>
            </a:r>
            <a:r>
              <a:rPr lang="en-US" sz="2400">
                <a:latin typeface="Walbaum Text"/>
              </a:rPr>
              <a:t>higher cost</a:t>
            </a:r>
            <a:r>
              <a:rPr lang="en-US" sz="2400" dirty="0">
                <a:latin typeface="Walbaum Text"/>
              </a:rPr>
              <a:t> </a:t>
            </a:r>
            <a:r>
              <a:rPr lang="en-US" sz="2400">
                <a:latin typeface="Walbaum Text"/>
              </a:rPr>
              <a:t>products starting at $200+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Walbaum Text"/>
              </a:rPr>
              <a:t>The variation stages travel across three categories:  low-cost, mid-range, and high-cost segments. </a:t>
            </a:r>
            <a:endParaRPr lang="en-US" sz="2400" dirty="0">
              <a:latin typeface="Walbaum Tex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Walbaum Text"/>
              </a:rPr>
              <a:t>Overall,  most firms are mid-cost, but a few operate in either premium or budget ranges. </a:t>
            </a:r>
          </a:p>
        </p:txBody>
      </p:sp>
    </p:spTree>
    <p:extLst>
      <p:ext uri="{BB962C8B-B14F-4D97-AF65-F5344CB8AC3E}">
        <p14:creationId xmlns:p14="http://schemas.microsoft.com/office/powerpoint/2010/main" val="398576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4A7E-D1FB-3E36-71F3-C4052CA8D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/>
              <a:t>Markups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84E41D-C7C7-D456-9414-ED0F99B3A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6438" y="814552"/>
            <a:ext cx="3705594" cy="231219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Content Placeholder 3" descr="A graph of distribution of marks&#10;&#10;AI-generated content may be incorrect.">
            <a:extLst>
              <a:ext uri="{FF2B5EF4-FFF2-40B4-BE49-F238E27FC236}">
                <a16:creationId xmlns:a16="http://schemas.microsoft.com/office/drawing/2014/main" id="{00A7FBB5-E81B-D4FB-64B2-3EC9DB97D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873" y="3569753"/>
            <a:ext cx="4398387" cy="29109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17923F-B852-6503-5C5E-2D35E0AE333E}"/>
              </a:ext>
            </a:extLst>
          </p:cNvPr>
          <p:cNvSpPr txBox="1"/>
          <p:nvPr/>
        </p:nvSpPr>
        <p:spPr>
          <a:xfrm>
            <a:off x="193620" y="1973428"/>
            <a:ext cx="508861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Walbaum Text"/>
              </a:rPr>
              <a:t>The market is centered around moderate, stable markups ($27-$30). </a:t>
            </a:r>
            <a:endParaRPr lang="en-US" dirty="0">
              <a:latin typeface="Walbaum Tex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Walbaum Text"/>
              </a:rPr>
              <a:t>A few firms earn higher-than-average markups, suggesting market power or differentiation. </a:t>
            </a:r>
            <a:endParaRPr lang="en-US" dirty="0">
              <a:latin typeface="Walbaum Tex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Walbaum Text"/>
              </a:rPr>
              <a:t>Extremely low markups are rare, implying a competitive but still profitable market.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Walbaum Text"/>
              </a:rPr>
              <a:t>Ninja and Instant Pot have the highest markups ($31-$34) = strong </a:t>
            </a:r>
            <a:r>
              <a:rPr lang="en-US">
                <a:latin typeface="Walbaum Text"/>
              </a:rPr>
              <a:t>pricing power</a:t>
            </a:r>
            <a:endParaRPr lang="en-US" dirty="0">
              <a:latin typeface="Walbaum Tex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Walbaum Text"/>
              </a:rPr>
              <a:t>Chefman</a:t>
            </a:r>
            <a:r>
              <a:rPr lang="en-US" dirty="0">
                <a:latin typeface="Walbaum Text"/>
              </a:rPr>
              <a:t> and </a:t>
            </a:r>
            <a:r>
              <a:rPr lang="en-US" dirty="0" err="1">
                <a:latin typeface="Walbaum Text"/>
              </a:rPr>
              <a:t>Ultrean</a:t>
            </a:r>
            <a:r>
              <a:rPr lang="en-US" dirty="0">
                <a:latin typeface="Walbaum Text"/>
              </a:rPr>
              <a:t> are mid-range ($27-$30) = competitive pricing.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Walbaum Text"/>
              </a:rPr>
              <a:t>Overall, most brands have similar markups and a few brands stand out with higher markups due to stronger demand or brand reputation. </a:t>
            </a:r>
          </a:p>
        </p:txBody>
      </p:sp>
    </p:spTree>
    <p:extLst>
      <p:ext uri="{BB962C8B-B14F-4D97-AF65-F5344CB8AC3E}">
        <p14:creationId xmlns:p14="http://schemas.microsoft.com/office/powerpoint/2010/main" val="1408243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B447-48EF-072A-923D-9F858945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Share-Weighted Profits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2BD359-AE97-9B08-B134-F6866DCE8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9016" y="1213705"/>
            <a:ext cx="4643706" cy="4137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A97EE7-5C5E-2D0C-5168-9E0ED6904A2D}"/>
              </a:ext>
            </a:extLst>
          </p:cNvPr>
          <p:cNvSpPr txBox="1"/>
          <p:nvPr/>
        </p:nvSpPr>
        <p:spPr>
          <a:xfrm>
            <a:off x="595312" y="1833562"/>
            <a:ext cx="590550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latin typeface="Walbaum Text"/>
              </a:rPr>
              <a:t>Ninja, Insta Pot and </a:t>
            </a:r>
            <a:r>
              <a:rPr lang="en-US" sz="2000" dirty="0" err="1">
                <a:latin typeface="Walbaum Text"/>
              </a:rPr>
              <a:t>Gowsie</a:t>
            </a:r>
            <a:r>
              <a:rPr lang="en-US" sz="2000" dirty="0">
                <a:latin typeface="Walbaum Text"/>
              </a:rPr>
              <a:t> USA have the highest share weight average profit. These brands generally have a strong brand effect and consistently high market shares.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Walbaum Text"/>
              </a:rPr>
              <a:t>They generate</a:t>
            </a:r>
            <a:r>
              <a:rPr lang="en-US" sz="2000" b="1" dirty="0">
                <a:latin typeface="Walbaum Text"/>
              </a:rPr>
              <a:t> high profits  through higher markups and large market shares</a:t>
            </a:r>
            <a:r>
              <a:rPr lang="en-US" sz="2000" dirty="0">
                <a:latin typeface="Walbaum Text"/>
              </a:rPr>
              <a:t>, indicating strong pricing power and consumer preference in the market.</a:t>
            </a:r>
            <a:r>
              <a:rPr lang="en-US" dirty="0">
                <a:latin typeface="Walbaum Text"/>
              </a:rPr>
              <a:t> </a:t>
            </a:r>
            <a:endParaRPr lang="en-US">
              <a:latin typeface="Walbaum Text"/>
            </a:endParaRPr>
          </a:p>
        </p:txBody>
      </p:sp>
    </p:spTree>
    <p:extLst>
      <p:ext uri="{BB962C8B-B14F-4D97-AF65-F5344CB8AC3E}">
        <p14:creationId xmlns:p14="http://schemas.microsoft.com/office/powerpoint/2010/main" val="2472543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967B-A919-BFF6-CE10-23C42A1B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Conclusions &amp; 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8AA85-9566-3A92-1B11-E0532F2C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500" dirty="0">
                <a:latin typeface="Walbaum Text"/>
                <a:cs typeface="Arial"/>
              </a:rPr>
              <a:t>The air fryer market is separated into </a:t>
            </a:r>
            <a:r>
              <a:rPr lang="en-US" sz="1500" b="1" dirty="0">
                <a:latin typeface="Walbaum Text"/>
                <a:cs typeface="Arial"/>
              </a:rPr>
              <a:t>premium, mid-range, and budget </a:t>
            </a:r>
            <a:r>
              <a:rPr lang="en-US" sz="1500" b="1">
                <a:latin typeface="Walbaum Text"/>
                <a:cs typeface="Arial"/>
              </a:rPr>
              <a:t>brands</a:t>
            </a:r>
            <a:r>
              <a:rPr lang="en-US" sz="1500">
                <a:latin typeface="Walbaum Text"/>
                <a:cs typeface="Arial"/>
              </a:rPr>
              <a:t>. </a:t>
            </a:r>
          </a:p>
          <a:p>
            <a:r>
              <a:rPr lang="en-US" sz="1500" b="1" dirty="0">
                <a:latin typeface="Walbaum Text"/>
                <a:cs typeface="Arial"/>
              </a:rPr>
              <a:t>Cuisinart, Oster, and Ninja</a:t>
            </a:r>
            <a:r>
              <a:rPr lang="en-US" sz="1500" dirty="0">
                <a:latin typeface="Walbaum Text"/>
                <a:cs typeface="Arial"/>
              </a:rPr>
              <a:t> operate in the premium segment, with the </a:t>
            </a:r>
            <a:r>
              <a:rPr lang="en-US" sz="1500" b="1" dirty="0">
                <a:latin typeface="Walbaum Text"/>
                <a:cs typeface="Arial"/>
              </a:rPr>
              <a:t>highest unit costs (often $150–$200+)</a:t>
            </a:r>
            <a:r>
              <a:rPr lang="en-US" sz="1500" dirty="0">
                <a:latin typeface="Walbaum Text"/>
                <a:cs typeface="Arial"/>
              </a:rPr>
              <a:t> and relatively high markups. These brands rely on strong brand recognition and perceived quality to justify higher prices, even though higher cost does not necessarily lead to higher ratings.</a:t>
            </a:r>
            <a:endParaRPr lang="en-US" sz="1500">
              <a:latin typeface="Walbaum Text"/>
              <a:cs typeface="Arial"/>
            </a:endParaRPr>
          </a:p>
          <a:p>
            <a:r>
              <a:rPr lang="en-US" sz="1500" dirty="0">
                <a:latin typeface="Walbaum Text"/>
                <a:cs typeface="Arial"/>
              </a:rPr>
              <a:t>Most brands, including </a:t>
            </a:r>
            <a:r>
              <a:rPr lang="en-US" sz="1500" b="1" dirty="0" err="1">
                <a:latin typeface="Walbaum Text"/>
                <a:cs typeface="Arial"/>
              </a:rPr>
              <a:t>Cosori</a:t>
            </a:r>
            <a:r>
              <a:rPr lang="en-US" sz="1500" b="1" dirty="0">
                <a:latin typeface="Walbaum Text"/>
                <a:cs typeface="Arial"/>
              </a:rPr>
              <a:t>, </a:t>
            </a:r>
            <a:r>
              <a:rPr lang="en-US" sz="1500" b="1" dirty="0" err="1">
                <a:latin typeface="Walbaum Text"/>
                <a:cs typeface="Arial"/>
              </a:rPr>
              <a:t>Chefman</a:t>
            </a:r>
            <a:r>
              <a:rPr lang="en-US" sz="1500" b="1" dirty="0">
                <a:latin typeface="Walbaum Text"/>
                <a:cs typeface="Arial"/>
              </a:rPr>
              <a:t>, and </a:t>
            </a:r>
            <a:r>
              <a:rPr lang="en-US" sz="1500" b="1" dirty="0" err="1">
                <a:latin typeface="Walbaum Text"/>
                <a:cs typeface="Arial"/>
              </a:rPr>
              <a:t>NuWave</a:t>
            </a:r>
            <a:r>
              <a:rPr lang="en-US" sz="1500" dirty="0">
                <a:latin typeface="Walbaum Text"/>
                <a:cs typeface="Arial"/>
              </a:rPr>
              <a:t>, fall into the </a:t>
            </a:r>
            <a:r>
              <a:rPr lang="en-US" sz="1500" b="1" dirty="0">
                <a:latin typeface="Walbaum Text"/>
                <a:cs typeface="Arial"/>
              </a:rPr>
              <a:t>mid-range</a:t>
            </a:r>
            <a:r>
              <a:rPr lang="en-US" sz="1500" dirty="0">
                <a:latin typeface="Walbaum Text"/>
                <a:cs typeface="Arial"/>
              </a:rPr>
              <a:t>, with unit costs around </a:t>
            </a:r>
            <a:r>
              <a:rPr lang="en-US" sz="1500" b="1" dirty="0">
                <a:latin typeface="Walbaum Text"/>
                <a:cs typeface="Arial"/>
              </a:rPr>
              <a:t>$50–$100</a:t>
            </a:r>
            <a:r>
              <a:rPr lang="en-US" sz="1500" dirty="0">
                <a:latin typeface="Walbaum Text"/>
                <a:cs typeface="Arial"/>
              </a:rPr>
              <a:t> and markups near </a:t>
            </a:r>
            <a:r>
              <a:rPr lang="en-US" sz="1500" b="1" dirty="0">
                <a:latin typeface="Walbaum Text"/>
                <a:cs typeface="Arial"/>
              </a:rPr>
              <a:t>$27–$30</a:t>
            </a:r>
            <a:r>
              <a:rPr lang="en-US" sz="1500" dirty="0">
                <a:latin typeface="Walbaum Text"/>
                <a:cs typeface="Arial"/>
              </a:rPr>
              <a:t>. This is the most competitive part of the market, where brands compete closely on price and features.</a:t>
            </a:r>
          </a:p>
          <a:p>
            <a:r>
              <a:rPr lang="en-US" sz="1500" dirty="0">
                <a:latin typeface="Walbaum Text"/>
                <a:cs typeface="Arial"/>
              </a:rPr>
              <a:t>At the lower end </a:t>
            </a:r>
            <a:r>
              <a:rPr lang="en-US" sz="1500" b="1" dirty="0">
                <a:latin typeface="Walbaum Text"/>
                <a:cs typeface="Arial"/>
              </a:rPr>
              <a:t>(budget brands)</a:t>
            </a:r>
            <a:r>
              <a:rPr lang="en-US" sz="1500" dirty="0">
                <a:latin typeface="Walbaum Text"/>
                <a:cs typeface="Arial"/>
              </a:rPr>
              <a:t>, </a:t>
            </a:r>
            <a:r>
              <a:rPr lang="en-US" sz="1500" b="1" dirty="0">
                <a:latin typeface="Walbaum Text"/>
                <a:cs typeface="Arial"/>
              </a:rPr>
              <a:t>Dash, </a:t>
            </a:r>
            <a:r>
              <a:rPr lang="en-US" sz="1500" b="1" dirty="0" err="1">
                <a:latin typeface="Walbaum Text"/>
                <a:cs typeface="Arial"/>
              </a:rPr>
              <a:t>Ultrean</a:t>
            </a:r>
            <a:r>
              <a:rPr lang="en-US" sz="1500" b="1" dirty="0">
                <a:latin typeface="Walbaum Text"/>
                <a:cs typeface="Arial"/>
              </a:rPr>
              <a:t>, and </a:t>
            </a:r>
            <a:r>
              <a:rPr lang="en-US" sz="1500" b="1" dirty="0" err="1">
                <a:latin typeface="Walbaum Text"/>
                <a:cs typeface="Arial"/>
              </a:rPr>
              <a:t>Gowise</a:t>
            </a:r>
            <a:r>
              <a:rPr lang="en-US" sz="1500" b="1" dirty="0">
                <a:latin typeface="Walbaum Text"/>
                <a:cs typeface="Arial"/>
              </a:rPr>
              <a:t> USA</a:t>
            </a:r>
            <a:r>
              <a:rPr lang="en-US" sz="1500" dirty="0">
                <a:latin typeface="Walbaum Text"/>
                <a:cs typeface="Arial"/>
              </a:rPr>
              <a:t> operate with </a:t>
            </a:r>
            <a:r>
              <a:rPr lang="en-US" sz="1500" b="1" dirty="0">
                <a:latin typeface="Walbaum Text"/>
                <a:cs typeface="Arial"/>
              </a:rPr>
              <a:t>low unit costs (~$25–$50)</a:t>
            </a:r>
            <a:r>
              <a:rPr lang="en-US" sz="1500" dirty="0">
                <a:latin typeface="Walbaum Text"/>
                <a:cs typeface="Arial"/>
              </a:rPr>
              <a:t> and slightly lower markups, suggesting a focus on affordability and higher sales volume.</a:t>
            </a:r>
          </a:p>
          <a:p>
            <a:r>
              <a:rPr lang="en-US" sz="1500" dirty="0">
                <a:latin typeface="Walbaum Text"/>
                <a:cs typeface="Arial"/>
              </a:rPr>
              <a:t>In terms of performance, </a:t>
            </a:r>
            <a:r>
              <a:rPr lang="en-US" sz="1500" b="1" dirty="0">
                <a:latin typeface="Walbaum Text"/>
                <a:cs typeface="Arial"/>
              </a:rPr>
              <a:t>Ninja and Instant Pot</a:t>
            </a:r>
            <a:r>
              <a:rPr lang="en-US" sz="1500" dirty="0">
                <a:latin typeface="Walbaum Text"/>
                <a:cs typeface="Arial"/>
              </a:rPr>
              <a:t> stand out by combining </a:t>
            </a:r>
            <a:r>
              <a:rPr lang="en-US" sz="1500" b="1" dirty="0">
                <a:latin typeface="Walbaum Text"/>
                <a:cs typeface="Arial"/>
              </a:rPr>
              <a:t>higher markups with strong market share</a:t>
            </a:r>
            <a:r>
              <a:rPr lang="en-US" sz="1500" dirty="0">
                <a:latin typeface="Walbaum Text"/>
                <a:cs typeface="Arial"/>
              </a:rPr>
              <a:t>, leading to the </a:t>
            </a:r>
            <a:r>
              <a:rPr lang="en-US" sz="1500" b="1" dirty="0">
                <a:latin typeface="Walbaum Text"/>
                <a:cs typeface="Arial"/>
              </a:rPr>
              <a:t>highest share-weighted profits</a:t>
            </a:r>
            <a:r>
              <a:rPr lang="en-US" sz="1500" dirty="0">
                <a:latin typeface="Walbaum Text"/>
                <a:cs typeface="Arial"/>
              </a:rPr>
              <a:t>. </a:t>
            </a:r>
            <a:r>
              <a:rPr lang="en-US" sz="1500" i="1" u="sng" dirty="0">
                <a:latin typeface="Walbaum Text"/>
                <a:cs typeface="Arial"/>
              </a:rPr>
              <a:t>Overall, the market is competitive, but a few strong brands are able to differentiate themselves and earn greater profits through pricing power and demand.</a:t>
            </a:r>
            <a:endParaRPr lang="en-US" sz="1500" i="1" u="sng">
              <a:latin typeface="Walbaum Text"/>
            </a:endParaRPr>
          </a:p>
          <a:p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9732873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596D80-5B6F-B54C-B3C5-D7779F618CA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2bacf0c-5204-4448-b2bb-889a94d06f2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714</Words>
  <Application>Microsoft Macintosh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 Light</vt:lpstr>
      <vt:lpstr>Arial</vt:lpstr>
      <vt:lpstr>Walbaum Display</vt:lpstr>
      <vt:lpstr>Walbaum Text</vt:lpstr>
      <vt:lpstr>BohoVogueVTI</vt:lpstr>
      <vt:lpstr>Air fryer Market Demand Estimation </vt:lpstr>
      <vt:lpstr>Air-Fryer Market Overview</vt:lpstr>
      <vt:lpstr>Demand Model Overview </vt:lpstr>
      <vt:lpstr>Estimated Price Coefficient &amp; Sign Importance</vt:lpstr>
      <vt:lpstr>Product Features</vt:lpstr>
      <vt:lpstr>Estimated Unit Costs</vt:lpstr>
      <vt:lpstr>Markups</vt:lpstr>
      <vt:lpstr>Share-Weighted Profits</vt:lpstr>
      <vt:lpstr>Final Conclusions &amp;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Lin, Eric (drt7vh)</dc:creator>
  <cp:lastModifiedBy>Lin, Eric (drt7vh)</cp:lastModifiedBy>
  <cp:revision>1</cp:revision>
  <dcterms:created xsi:type="dcterms:W3CDTF">2026-04-28T01:49:39Z</dcterms:created>
  <dcterms:modified xsi:type="dcterms:W3CDTF">2026-05-04T23:39:46Z</dcterms:modified>
</cp:coreProperties>
</file>